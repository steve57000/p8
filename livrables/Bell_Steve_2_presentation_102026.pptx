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aleway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  <p:embeddedFont>
      <p:font typeface="Montserrat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font" Target="fonts/Raleway-regular.fntdata"/><Relationship Id="rId16" Type="http://schemas.openxmlformats.org/officeDocument/2006/relationships/font" Target="fonts/Raleway-bold.fntdata"/><Relationship Id="rId17" Type="http://schemas.openxmlformats.org/officeDocument/2006/relationships/font" Target="fonts/Raleway-italic.fntdata"/><Relationship Id="rId18" Type="http://schemas.openxmlformats.org/officeDocument/2006/relationships/font" Target="fonts/Raleway-boldItalic.fntdata"/><Relationship Id="rId19" Type="http://schemas.openxmlformats.org/officeDocument/2006/relationships/font" Target="fonts/Lato-regular.fntdata"/><Relationship Id="rId20" Type="http://schemas.openxmlformats.org/officeDocument/2006/relationships/font" Target="fonts/Lato-bold.fntdata"/><Relationship Id="rId21" Type="http://schemas.openxmlformats.org/officeDocument/2006/relationships/font" Target="fonts/Lato-italic.fntdata"/><Relationship Id="rId22" Type="http://schemas.openxmlformats.org/officeDocument/2006/relationships/font" Target="fonts/Lato-boldItalic.fntdata"/><Relationship Id="rId23" Type="http://schemas.openxmlformats.org/officeDocument/2006/relationships/font" Target="fonts/Montserrat-regular.fntdata"/><Relationship Id="rId24" Type="http://schemas.openxmlformats.org/officeDocument/2006/relationships/font" Target="fonts/Montserrat-bold.fntdata"/><Relationship Id="rId25" Type="http://schemas.openxmlformats.org/officeDocument/2006/relationships/font" Target="fonts/Montserrat-italic.fntdata"/><Relationship Id="rId26" Type="http://schemas.openxmlformats.org/officeDocument/2006/relationships/font" Target="fonts/Montserrat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36c227a4f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36c227a4f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36251e9b62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36251e9b6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6251e9b62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36251e9b62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36251e9b62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136251e9b62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36251e9b62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36251e9b62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36c227a4f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136c227a4f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36c227a4fd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136c227a4fd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36c227a4fd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136c227a4fd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36c227a4fd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136c227a4f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  <a:defRPr sz="1800">
                <a:solidFill>
                  <a:srgbClr val="233044"/>
                </a:solidFill>
                <a:latin typeface="Aptos"/>
              </a:defRPr>
            </a:pPr>
            <a:r>
              <a:rPr/>
              <a:t>Les Plus Beaux Logis de Paris</a:t>
            </a:r>
            <a:endParaRPr/>
          </a:p>
          <a:p>
            <a:pPr>
              <a:spcAft>
                <a:spcPts val="1000"/>
              </a:spcAft>
              <a:defRPr sz="1800">
                <a:solidFill>
                  <a:srgbClr val="233044"/>
                </a:solidFill>
                <a:latin typeface="Aptos"/>
              </a:defRPr>
            </a:pPr>
            <a:r>
              <a:rPr/>
              <a:t>Analyse immobilière · Partie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idx="1" type="subTitle"/>
          </p:nvPr>
        </p:nvSpPr>
        <p:spPr>
          <a:xfrm>
            <a:off x="623400" y="2612200"/>
            <a:ext cx="8520600" cy="14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ct val="50000"/>
              <a:buFont typeface="Arial"/>
              <a:buNone/>
              <a:defRPr sz="1800">
                <a:solidFill>
                  <a:srgbClr val="233044"/>
                </a:solidFill>
                <a:latin typeface="Aptos"/>
              </a:defRPr>
            </a:pPr>
            <a:r>
              <a:rPr/>
              <a:t>Analysez l’évolution des prix de l’immobilier avec Python</a:t>
            </a:r>
            <a:endParaRPr i="1" sz="2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spcAft>
                <a:spcPts val="1000"/>
              </a:spcAft>
              <a:defRPr sz="1800">
                <a:solidFill>
                  <a:srgbClr val="233044"/>
                </a:solidFill>
                <a:latin typeface="Aptos"/>
              </a:defRPr>
            </a:pPr>
            <a:r>
              <a:rPr/>
              <a:t>Steve Bell</a:t>
            </a:r>
          </a:p>
          <a:p>
            <a:pPr>
              <a:spcAft>
                <a:spcPts val="1000"/>
              </a:spcAft>
              <a:defRPr sz="1800">
                <a:solidFill>
                  <a:srgbClr val="233044"/>
                </a:solidFill>
                <a:latin typeface="Aptos"/>
              </a:defRPr>
            </a:pPr>
            <a:r>
              <a:rPr/>
              <a:t>6 octobre 2026</a:t>
            </a:r>
          </a:p>
        </p:txBody>
      </p:sp>
      <p:pic>
        <p:nvPicPr>
          <p:cNvPr id="92" name="Google Shape;9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3400" y="89925"/>
            <a:ext cx="3669750" cy="16454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685150" y="4324050"/>
            <a:ext cx="682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r>
              <a:rPr/>
              <a:t>Analyse 2017–2021 · Modèle testé sur 2021 · Portefeuille estimé au 31/12/2022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7650" y="6055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5290" lvl="0" marL="457200" rtl="0" algn="l">
              <a:spcBef>
                <a:spcPts val="0"/>
              </a:spcBef>
              <a:spcAft>
                <a:spcPts val="1000"/>
              </a:spcAft>
              <a:buSzPts val="2940"/>
              <a:buFont typeface="Montserrat"/>
              <a:buAutoNum type="romanUcPeriod"/>
              <a:defRPr sz="1800">
                <a:solidFill>
                  <a:srgbClr val="233044"/>
                </a:solidFill>
                <a:latin typeface="Aptos"/>
              </a:defRPr>
            </a:pPr>
            <a:r>
              <a:rPr/>
              <a:t>Évolution du marché parisien</a:t>
            </a:r>
            <a:endParaRPr sz="2520"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9450" y="1402775"/>
            <a:ext cx="7688700" cy="293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 i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0" name="Picture 99" descr="evolution_prix_m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25880"/>
            <a:ext cx="5303520" cy="2613029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5989320" y="1463040"/>
            <a:ext cx="2606040" cy="2880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3044"/>
                </a:solidFill>
                <a:latin typeface="Aptos"/>
              </a:defRPr>
            </a:pPr>
            <a:r>
              <a:rPr/>
              <a:t>Moyenne 2017 : 9,493 €/m²</a:t>
            </a:r>
          </a:p>
          <a:p>
            <a:pPr>
              <a:spcAft>
                <a:spcPts val="1000"/>
              </a:spcAft>
              <a:defRPr sz="1600">
                <a:solidFill>
                  <a:srgbClr val="233044"/>
                </a:solidFill>
                <a:latin typeface="Aptos"/>
              </a:defRPr>
            </a:pPr>
            <a:r>
              <a:rPr/>
              <a:t>Moyenne 2020 : 10,675 €/m²</a:t>
            </a:r>
          </a:p>
          <a:p>
            <a:pPr>
              <a:spcAft>
                <a:spcPts val="1000"/>
              </a:spcAft>
              <a:defRPr sz="1600">
                <a:solidFill>
                  <a:srgbClr val="233044"/>
                </a:solidFill>
                <a:latin typeface="Aptos"/>
              </a:defRPr>
            </a:pPr>
            <a:r>
              <a:rPr/>
              <a:t>Moyenne 2021 : 10,456 €/m²</a:t>
            </a:r>
          </a:p>
          <a:p>
            <a:pPr>
              <a:spcAft>
                <a:spcPts val="1000"/>
              </a:spcAft>
              <a:defRPr sz="1600">
                <a:solidFill>
                  <a:srgbClr val="233044"/>
                </a:solidFill>
                <a:latin typeface="Aptos"/>
              </a:defRPr>
            </a:pPr>
            <a:r>
              <a:rPr/>
              <a:t>Écart 2017–2021 : +10.1%</a:t>
            </a:r>
          </a:p>
          <a:p>
            <a:pPr>
              <a:spcAft>
                <a:spcPts val="1000"/>
              </a:spcAft>
              <a:defRPr sz="1600">
                <a:solidFill>
                  <a:srgbClr val="233044"/>
                </a:solidFill>
                <a:latin typeface="Aptos"/>
              </a:defRPr>
            </a:pPr>
            <a:r>
              <a:rPr/>
              <a:t>2021 : −2,1% vs 2020</a:t>
            </a:r>
          </a:p>
          <a:p>
            <a:pPr>
              <a:spcAft>
                <a:spcPts val="1000"/>
              </a:spcAft>
              <a:defRPr sz="1600">
                <a:solidFill>
                  <a:srgbClr val="233044"/>
                </a:solidFill>
                <a:latin typeface="Aptos"/>
              </a:defRPr>
            </a:pPr>
            <a:r>
              <a:rPr/>
              <a:t>Moyennes nominales, non ajustées de l’inflation.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727650" y="6172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ct val="33333"/>
              <a:buFont typeface="Arial"/>
              <a:buNone/>
              <a:defRPr sz="1800">
                <a:solidFill>
                  <a:srgbClr val="233044"/>
                </a:solidFill>
                <a:latin typeface="Aptos"/>
              </a:defRPr>
            </a:pPr>
            <a:r>
              <a:rPr/>
              <a:t>Méthode et constats clés</a:t>
            </a:r>
            <a:endParaRPr sz="3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729450" y="1437850"/>
            <a:ext cx="7688700" cy="29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 i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777240" y="1417320"/>
            <a:ext cx="758952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3044"/>
                </a:solidFill>
                <a:latin typeface="Aptos"/>
              </a:defRPr>
            </a:pPr>
            <a:r>
              <a:rPr/>
              <a:t>26 196 enregistrements · 2 types de biens · Paris 2017–2021</a:t>
            </a:r>
          </a:p>
          <a:p>
            <a:pPr>
              <a:spcAft>
                <a:spcPts val="1000"/>
              </a:spcAft>
              <a:defRPr sz="1600">
                <a:solidFill>
                  <a:srgbClr val="233044"/>
                </a:solidFill>
                <a:latin typeface="Aptos"/>
              </a:defRPr>
            </a:pPr>
            <a:r>
              <a:rPr/>
              <a:t>Contrôles : types, valeurs manquantes, 16 lignes identiques signalées; conservées faute d’identifiant transaction.</a:t>
            </a:r>
          </a:p>
          <a:p>
            <a:pPr>
              <a:spcAft>
                <a:spcPts val="1000"/>
              </a:spcAft>
              <a:defRPr sz="1600">
                <a:solidFill>
                  <a:srgbClr val="233044"/>
                </a:solidFill>
                <a:latin typeface="Aptos"/>
              </a:defRPr>
            </a:pPr>
            <a:r>
              <a:rPr/>
              <a:t>Corrélation prix/m²-date : r = 0.267 (association positive, non causale).</a:t>
            </a:r>
          </a:p>
          <a:p>
            <a:pPr>
              <a:spcAft>
                <a:spcPts val="1000"/>
              </a:spcAft>
              <a:defRPr sz="1600">
                <a:solidFill>
                  <a:srgbClr val="233044"/>
                </a:solidFill>
                <a:latin typeface="Aptos"/>
              </a:defRPr>
            </a:pPr>
            <a:r>
              <a:rPr/>
              <a:t>Corrélation prix/m²-surface : r = 0.103 (association faible).</a:t>
            </a:r>
          </a:p>
          <a:p>
            <a:pPr>
              <a:spcAft>
                <a:spcPts val="1000"/>
              </a:spcAft>
              <a:defRPr sz="1600">
                <a:solidFill>
                  <a:srgbClr val="233044"/>
                </a:solidFill>
                <a:latin typeface="Aptos"/>
              </a:defRPr>
            </a:pPr>
            <a:r>
              <a:rPr/>
              <a:t>Prix moyen des locaux : +14,5% vs appartements sur l’ensemble de la période.</a:t>
            </a:r>
          </a:p>
          <a:p>
            <a:pPr>
              <a:spcAft>
                <a:spcPts val="1000"/>
              </a:spcAft>
              <a:defRPr sz="1600">
                <a:solidFill>
                  <a:srgbClr val="233044"/>
                </a:solidFill>
                <a:latin typeface="Aptos"/>
              </a:defRPr>
            </a:pPr>
            <a:r>
              <a:rPr/>
              <a:t>Moyennes descriptives : les écarts de surface, de localisation et de composition ne sont pas neutralisés.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671000" y="640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  <a:defRPr sz="1800">
                <a:solidFill>
                  <a:srgbClr val="233044"/>
                </a:solidFill>
                <a:latin typeface="Aptos"/>
              </a:defRPr>
            </a:pPr>
            <a:r>
              <a:rPr/>
              <a:t>Valorisation estimée du portefeuille · 31/12/2022</a:t>
            </a:r>
            <a:endParaRPr sz="3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729450" y="1437850"/>
            <a:ext cx="7688700" cy="29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 i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777240" y="1353312"/>
            <a:ext cx="758952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3044"/>
                </a:solidFill>
                <a:latin typeface="Aptos"/>
              </a:defRPr>
            </a:pPr>
            <a:r>
              <a:rPr/>
              <a:t>Valeur totale estimée : 180,358,088 €</a:t>
            </a:r>
          </a:p>
          <a:p>
            <a:pPr>
              <a:spcAft>
                <a:spcPts val="1000"/>
              </a:spcAft>
              <a:defRPr sz="1600">
                <a:solidFill>
                  <a:srgbClr val="233044"/>
                </a:solidFill>
                <a:latin typeface="Aptos"/>
              </a:defRPr>
            </a:pPr>
            <a:r>
              <a:rPr/>
              <a:t>Appartements · 154 biens : 74,566,947 €</a:t>
            </a:r>
          </a:p>
          <a:p>
            <a:pPr>
              <a:spcAft>
                <a:spcPts val="1000"/>
              </a:spcAft>
              <a:defRPr sz="1600">
                <a:solidFill>
                  <a:srgbClr val="233044"/>
                </a:solidFill>
                <a:latin typeface="Aptos"/>
              </a:defRPr>
            </a:pPr>
            <a:r>
              <a:rPr/>
              <a:t>Locaux commerciaux et assimilés · 121 biens : 105,791,141 €</a:t>
            </a:r>
          </a:p>
          <a:p>
            <a:pPr>
              <a:spcAft>
                <a:spcPts val="1000"/>
              </a:spcAft>
              <a:defRPr sz="1600">
                <a:solidFill>
                  <a:srgbClr val="233044"/>
                </a:solidFill>
                <a:latin typeface="Aptos"/>
              </a:defRPr>
            </a:pPr>
            <a:r>
              <a:rPr/>
              <a:t>Test 2021 : erreur relative moyenne 7.87% (MAE 40,009 €); modèle linéaire du prix au m², reconverti par la surface.</a:t>
            </a:r>
          </a:p>
          <a:p>
            <a:pPr>
              <a:spcAft>
                <a:spcPts val="1000"/>
              </a:spcAft>
              <a:defRPr sz="1600">
                <a:solidFill>
                  <a:srgbClr val="233044"/>
                </a:solidFill>
                <a:latin typeface="Aptos"/>
              </a:defRPr>
            </a:pPr>
            <a:r>
              <a:rPr/>
              <a:t>Limites : extrapolation après 2021; données sans état, étage, DPE ni détails des locaux.</a:t>
            </a:r>
          </a:p>
          <a:p>
            <a:pPr>
              <a:spcAft>
                <a:spcPts val="1000"/>
              </a:spcAft>
              <a:defRPr sz="1600">
                <a:solidFill>
                  <a:srgbClr val="233044"/>
                </a:solidFill>
                <a:latin typeface="Aptos"/>
              </a:defRPr>
            </a:pPr>
            <a:r>
              <a:rPr/>
              <a:t>Ventilation par type de bien seulement : aucune variable ‘branche’ dans le fichier.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  <a:defRPr sz="1800">
                <a:solidFill>
                  <a:srgbClr val="233044"/>
                </a:solidFill>
                <a:latin typeface="Aptos"/>
              </a:defRPr>
            </a:pPr>
            <a:r>
              <a:rPr/>
              <a:t>Les Plus Beaux Logis de Paris</a:t>
            </a:r>
            <a:endParaRPr/>
          </a:p>
          <a:p>
            <a:pPr>
              <a:spcAft>
                <a:spcPts val="1000"/>
              </a:spcAft>
              <a:defRPr sz="1800">
                <a:solidFill>
                  <a:srgbClr val="233044"/>
                </a:solidFill>
                <a:latin typeface="Aptos"/>
              </a:defRPr>
            </a:pPr>
            <a:r>
              <a:rPr/>
              <a:t>Classement automatique · K-means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>
            <p:ph idx="1" type="subTitle"/>
          </p:nvPr>
        </p:nvSpPr>
        <p:spPr>
          <a:xfrm>
            <a:off x="623400" y="2612200"/>
            <a:ext cx="8520600" cy="14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ct val="50000"/>
              <a:buFont typeface="Arial"/>
              <a:buNone/>
              <a:defRPr sz="1800">
                <a:solidFill>
                  <a:srgbClr val="233044"/>
                </a:solidFill>
                <a:latin typeface="Aptos"/>
              </a:defRPr>
            </a:pPr>
            <a:r>
              <a:rPr/>
              <a:t>Trier les opportunités par nature de bien</a:t>
            </a:r>
            <a:endParaRPr i="1" sz="2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spcAft>
                <a:spcPts val="1000"/>
              </a:spcAft>
              <a:defRPr sz="1800">
                <a:solidFill>
                  <a:srgbClr val="233044"/>
                </a:solidFill>
                <a:latin typeface="Aptos"/>
              </a:defRPr>
            </a:pPr>
            <a:r>
              <a:rPr/>
              <a:t>Démonstration sur l’historique disponible</a:t>
            </a:r>
          </a:p>
        </p:txBody>
      </p:sp>
      <p:pic>
        <p:nvPicPr>
          <p:cNvPr id="122" name="Google Shape;12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3400" y="89925"/>
            <a:ext cx="3669750" cy="164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/>
          <p:nvPr>
            <p:ph type="title"/>
          </p:nvPr>
        </p:nvSpPr>
        <p:spPr>
          <a:xfrm>
            <a:off x="727650" y="6172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ct val="33333"/>
              <a:buFont typeface="Arial"/>
              <a:buNone/>
              <a:defRPr sz="1800">
                <a:solidFill>
                  <a:srgbClr val="233044"/>
                </a:solidFill>
                <a:latin typeface="Aptos"/>
              </a:defRPr>
            </a:pPr>
            <a:r>
              <a:rPr/>
              <a:t>Méthode de clustering et test</a:t>
            </a:r>
            <a:endParaRPr sz="3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8" name="Google Shape;128;p20"/>
          <p:cNvSpPr txBox="1"/>
          <p:nvPr>
            <p:ph idx="1" type="body"/>
          </p:nvPr>
        </p:nvSpPr>
        <p:spPr>
          <a:xfrm>
            <a:off x="729450" y="1437850"/>
            <a:ext cx="7688700" cy="29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 i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777240" y="1417320"/>
            <a:ext cx="758952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3044"/>
                </a:solidFill>
                <a:latin typeface="Aptos"/>
              </a:defRPr>
            </a:pPr>
            <a:r>
              <a:rPr/>
              <a:t>Deux groupes K-means, ajustés uniquement sur le prix au m² 2017–2020.</a:t>
            </a:r>
          </a:p>
          <a:p>
            <a:pPr>
              <a:spcAft>
                <a:spcPts val="1000"/>
              </a:spcAft>
              <a:defRPr sz="1600">
                <a:solidFill>
                  <a:srgbClr val="233044"/>
                </a:solidFill>
                <a:latin typeface="Aptos"/>
              </a:defRPr>
            </a:pPr>
            <a:r>
              <a:rPr/>
              <a:t>Le type de bien n’entre pas dans l’algorithme; les étiquettes historiques nomment les groupes après ajustement.</a:t>
            </a:r>
          </a:p>
          <a:p>
            <a:pPr>
              <a:spcAft>
                <a:spcPts val="1000"/>
              </a:spcAft>
              <a:defRPr sz="1600">
                <a:solidFill>
                  <a:srgbClr val="233044"/>
                </a:solidFill>
                <a:latin typeface="Aptos"/>
              </a:defRPr>
            </a:pPr>
            <a:r>
              <a:rPr/>
              <a:t>2021 est gardée à part pour tester la classification.</a:t>
            </a:r>
          </a:p>
          <a:p>
            <a:pPr>
              <a:spcAft>
                <a:spcPts val="1000"/>
              </a:spcAft>
              <a:defRPr sz="1600">
                <a:solidFill>
                  <a:srgbClr val="233044"/>
                </a:solidFill>
                <a:latin typeface="Aptos"/>
              </a:defRPr>
            </a:pPr>
            <a:r>
              <a:rPr/>
              <a:t>Les centres obtenus sont 9,583 et 12,426 €/m².</a:t>
            </a:r>
          </a:p>
          <a:p>
            <a:pPr>
              <a:spcAft>
                <a:spcPts val="1000"/>
              </a:spcAft>
              <a:defRPr sz="1600">
                <a:solidFill>
                  <a:srgbClr val="233044"/>
                </a:solidFill>
                <a:latin typeface="Aptos"/>
              </a:defRPr>
            </a:pPr>
            <a:r>
              <a:rPr/>
              <a:t>Une silhouette élevée décrit la séparation des prix, pas la qualité des types prédits.</a:t>
            </a:r>
          </a:p>
          <a:p>
            <a:pPr>
              <a:spcAft>
                <a:spcPts val="1000"/>
              </a:spcAft>
              <a:defRPr sz="1600">
                <a:solidFill>
                  <a:srgbClr val="233044"/>
                </a:solidFill>
                <a:latin typeface="Aptos"/>
              </a:defRPr>
            </a:pPr>
            <a:r>
              <a:rPr/>
              <a:t>Il manque encore l’échantillon Louise et ses étiquettes de référence pour le test demandé.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/>
          <p:nvPr>
            <p:ph type="title"/>
          </p:nvPr>
        </p:nvSpPr>
        <p:spPr>
          <a:xfrm>
            <a:off x="671000" y="640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  <a:defRPr sz="1800">
                <a:solidFill>
                  <a:srgbClr val="233044"/>
                </a:solidFill>
                <a:latin typeface="Aptos"/>
              </a:defRPr>
            </a:pPr>
            <a:r>
              <a:rPr/>
              <a:t>Résultats 2021 : utile comme indicateur, insuffisant pour décider seul</a:t>
            </a:r>
            <a:endParaRPr sz="3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" name="Google Shape;134;p21"/>
          <p:cNvSpPr txBox="1"/>
          <p:nvPr>
            <p:ph idx="1" type="body"/>
          </p:nvPr>
        </p:nvSpPr>
        <p:spPr>
          <a:xfrm>
            <a:off x="729450" y="1437850"/>
            <a:ext cx="7688700" cy="29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 i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5" name="Picture 134" descr="matrice_confusion_kmea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17320"/>
            <a:ext cx="4114800" cy="3218066"/>
          </a:xfrm>
          <a:prstGeom prst="rect">
            <a:avLst/>
          </a:prstGeom>
        </p:spPr>
      </p:pic>
      <p:sp>
        <p:nvSpPr>
          <p:cNvPr id="136" name="TextBox 135"/>
          <p:cNvSpPr txBox="1"/>
          <p:nvPr/>
        </p:nvSpPr>
        <p:spPr>
          <a:xfrm>
            <a:off x="4663440" y="1417320"/>
            <a:ext cx="388620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3044"/>
                </a:solidFill>
                <a:latin typeface="Aptos"/>
              </a:defRPr>
            </a:pPr>
            <a:r>
              <a:rPr/>
              <a:t>Précision ‘local’ : 23.3% — nombreuses fausses alertes.</a:t>
            </a:r>
          </a:p>
          <a:p>
            <a:pPr>
              <a:spcAft>
                <a:spcPts val="1000"/>
              </a:spcAft>
              <a:defRPr sz="1800">
                <a:solidFill>
                  <a:srgbClr val="233044"/>
                </a:solidFill>
                <a:latin typeface="Aptos"/>
              </a:defRPr>
            </a:pPr>
            <a:r>
              <a:rPr/>
              <a:t>Rappel des locaux : 73.6%.</a:t>
            </a:r>
          </a:p>
          <a:p>
            <a:pPr>
              <a:spcAft>
                <a:spcPts val="1000"/>
              </a:spcAft>
              <a:defRPr sz="1800">
                <a:solidFill>
                  <a:srgbClr val="233044"/>
                </a:solidFill>
                <a:latin typeface="Aptos"/>
              </a:defRPr>
            </a:pPr>
            <a:r>
              <a:rPr/>
              <a:t>Exactitude globale : 80.1%; classer tout en appartement ferait 92.6% sur ce test déséquilibré.</a:t>
            </a:r>
          </a:p>
          <a:p>
            <a:pPr>
              <a:spcAft>
                <a:spcPts val="1000"/>
              </a:spcAft>
              <a:defRPr sz="1800">
                <a:solidFill>
                  <a:srgbClr val="233044"/>
                </a:solidFill>
                <a:latin typeface="Aptos"/>
              </a:defRPr>
            </a:pPr>
            <a:r>
              <a:rPr/>
              <a:t>Ne pas automatiser la décision d’achat : utiliser au mieux comme pré-tri avec validation humaine.</a:t>
            </a:r>
          </a:p>
          <a:p>
            <a:pPr>
              <a:spcAft>
                <a:spcPts val="1000"/>
              </a:spcAft>
              <a:defRPr sz="1800">
                <a:solidFill>
                  <a:srgbClr val="233044"/>
                </a:solidFill>
                <a:latin typeface="Aptos"/>
              </a:defRPr>
            </a:pPr>
            <a:r>
              <a:rPr/>
              <a:t>Pour le test final : joindre l’échantillon et le classement réel remis par l’équipe de Louise.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