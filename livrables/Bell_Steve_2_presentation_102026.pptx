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5923241541e4ded" /><Relationship Type="http://schemas.openxmlformats.org/officeDocument/2006/relationships/extended-properties" Target="/docProps/app.xml" Id="Ra5f200efb4e44190" /><Relationship Type="http://schemas.openxmlformats.org/officeDocument/2006/relationships/officeDocument" Target="/ppt/presentation.xml" Id="Rab210718732a4ff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eebdc3f82224302"/>
  </p:sldMasterIdLst>
  <p:notesMasterIdLst>
    <p:notesMasterId xmlns:r="http://schemas.openxmlformats.org/officeDocument/2006/relationships" r:id="Rc16f878492814dd5"/>
  </p:notesMasterIdLst>
  <p:sldIdLst>
    <p:sldId xmlns:r="http://schemas.openxmlformats.org/officeDocument/2006/relationships" id="256" r:id="R36e48681947f4bb0"/>
    <p:sldId xmlns:r="http://schemas.openxmlformats.org/officeDocument/2006/relationships" id="257" r:id="R110c3763f41b4c84"/>
    <p:sldId xmlns:r="http://schemas.openxmlformats.org/officeDocument/2006/relationships" id="258" r:id="Raed97b122d744eba"/>
    <p:sldId xmlns:r="http://schemas.openxmlformats.org/officeDocument/2006/relationships" id="259" r:id="Rc9198a943a4344cd"/>
    <p:sldId xmlns:r="http://schemas.openxmlformats.org/officeDocument/2006/relationships" id="260" r:id="Rc2a78d0cd6ad4c93"/>
    <p:sldId xmlns:r="http://schemas.openxmlformats.org/officeDocument/2006/relationships" id="261" r:id="R6530354ae3e547d8"/>
    <p:sldId xmlns:r="http://schemas.openxmlformats.org/officeDocument/2006/relationships" id="262" r:id="R825d9c3b3c7f48b3"/>
    <p:sldId xmlns:r="http://schemas.openxmlformats.org/officeDocument/2006/relationships" id="263" r:id="Ra11784e4b1fe42e5"/>
    <p:sldId xmlns:r="http://schemas.openxmlformats.org/officeDocument/2006/relationships" id="264" r:id="R6136027ebca14581"/>
  </p:sldIdLst>
  <p:sldSz cx="9144000" cy="5143500"/>
  <p:notesSz cx="6858000" cy="9144000"/>
  <p:embeddedFontLst>
    <p:embeddedFont>
      <p:font typeface="Raleway"/>
      <p:regular xmlns:r="http://schemas.openxmlformats.org/officeDocument/2006/relationships" r:id="Rd0200a6f7da04e5e"/>
      <p:bold xmlns:r="http://schemas.openxmlformats.org/officeDocument/2006/relationships" r:id="Rcf340555482e42ae"/>
      <p:italic xmlns:r="http://schemas.openxmlformats.org/officeDocument/2006/relationships" r:id="R679f75d1493c400e"/>
      <p:boldItalic xmlns:r="http://schemas.openxmlformats.org/officeDocument/2006/relationships" r:id="R003e3ddfca0b4853"/>
    </p:embeddedFont>
    <p:embeddedFont>
      <p:font typeface="Lato"/>
      <p:regular xmlns:r="http://schemas.openxmlformats.org/officeDocument/2006/relationships" r:id="R770d06d345a343db"/>
      <p:bold xmlns:r="http://schemas.openxmlformats.org/officeDocument/2006/relationships" r:id="Rd995e1b1c8224f60"/>
      <p:italic xmlns:r="http://schemas.openxmlformats.org/officeDocument/2006/relationships" r:id="R08ddf4ca425b41d1"/>
      <p:boldItalic xmlns:r="http://schemas.openxmlformats.org/officeDocument/2006/relationships" r:id="Rb1ea29589bc4492d"/>
    </p:embeddedFont>
    <p:embeddedFont>
      <p:font typeface="Montserrat"/>
      <p:regular xmlns:r="http://schemas.openxmlformats.org/officeDocument/2006/relationships" r:id="Rc3fc20b275b74a2a"/>
      <p:bold xmlns:r="http://schemas.openxmlformats.org/officeDocument/2006/relationships" r:id="R613aae54b4c94890"/>
      <p:italic xmlns:r="http://schemas.openxmlformats.org/officeDocument/2006/relationships" r:id="Rd77b534079694346"/>
      <p:boldItalic xmlns:r="http://schemas.openxmlformats.org/officeDocument/2006/relationships" r:id="Rc1ef1db79c6b4643"/>
    </p:embeddedFont>
  </p:embeddedFontLst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db5b6ad77946da" /><Relationship Type="http://schemas.openxmlformats.org/officeDocument/2006/relationships/slideMaster" Target="/ppt/slideMasters/slideMaster1.xml" Id="R7eebdc3f82224302" /><Relationship Type="http://schemas.openxmlformats.org/officeDocument/2006/relationships/notesMaster" Target="/ppt/notesMasters/notesMaster1.xml" Id="Rc16f878492814dd5" /><Relationship Type="http://schemas.openxmlformats.org/officeDocument/2006/relationships/presProps" Target="/ppt/presProps.xml" Id="R3df139d452204563" /><Relationship Type="http://schemas.openxmlformats.org/officeDocument/2006/relationships/viewProps" Target="/ppt/viewProps.xml" Id="R749d6c0830cd469d" /><Relationship Type="http://schemas.openxmlformats.org/officeDocument/2006/relationships/tableStyles" Target="/ppt/tableStyles.xml" Id="Rcc663c0810384dda" /><Relationship Type="http://schemas.openxmlformats.org/officeDocument/2006/relationships/font" Target="/ppt/fonts/font.dat" Id="Rd0200a6f7da04e5e" /><Relationship Type="http://schemas.openxmlformats.org/officeDocument/2006/relationships/font" Target="/ppt/fonts/font2.dat" Id="Rcf340555482e42ae" /><Relationship Type="http://schemas.openxmlformats.org/officeDocument/2006/relationships/font" Target="/ppt/fonts/font3.dat" Id="R679f75d1493c400e" /><Relationship Type="http://schemas.openxmlformats.org/officeDocument/2006/relationships/font" Target="/ppt/fonts/font4.dat" Id="R003e3ddfca0b4853" /><Relationship Type="http://schemas.openxmlformats.org/officeDocument/2006/relationships/font" Target="/ppt/fonts/font5.dat" Id="R770d06d345a343db" /><Relationship Type="http://schemas.openxmlformats.org/officeDocument/2006/relationships/font" Target="/ppt/fonts/font6.dat" Id="Rd995e1b1c8224f60" /><Relationship Type="http://schemas.openxmlformats.org/officeDocument/2006/relationships/font" Target="/ppt/fonts/font7.dat" Id="R08ddf4ca425b41d1" /><Relationship Type="http://schemas.openxmlformats.org/officeDocument/2006/relationships/font" Target="/ppt/fonts/font8.dat" Id="Rb1ea29589bc4492d" /><Relationship Type="http://schemas.openxmlformats.org/officeDocument/2006/relationships/font" Target="/ppt/fonts/font9.dat" Id="Rc3fc20b275b74a2a" /><Relationship Type="http://schemas.openxmlformats.org/officeDocument/2006/relationships/font" Target="/ppt/fonts/font10.dat" Id="R613aae54b4c94890" /><Relationship Type="http://schemas.openxmlformats.org/officeDocument/2006/relationships/font" Target="/ppt/fonts/font11.dat" Id="Rd77b534079694346" /><Relationship Type="http://schemas.openxmlformats.org/officeDocument/2006/relationships/font" Target="/ppt/fonts/font12.dat" Id="Rc1ef1db79c6b4643" /><Relationship Type="http://schemas.openxmlformats.org/officeDocument/2006/relationships/slide" Target="/ppt/slides/slide1.xml" Id="R36e48681947f4bb0" /><Relationship Type="http://schemas.openxmlformats.org/officeDocument/2006/relationships/slide" Target="/ppt/slides/slide2.xml" Id="R110c3763f41b4c84" /><Relationship Type="http://schemas.openxmlformats.org/officeDocument/2006/relationships/slide" Target="/ppt/slides/slide3.xml" Id="Raed97b122d744eba" /><Relationship Type="http://schemas.openxmlformats.org/officeDocument/2006/relationships/slide" Target="/ppt/slides/slide4.xml" Id="Rc9198a943a4344cd" /><Relationship Type="http://schemas.openxmlformats.org/officeDocument/2006/relationships/slide" Target="/ppt/slides/slide5.xml" Id="Rc2a78d0cd6ad4c93" /><Relationship Type="http://schemas.openxmlformats.org/officeDocument/2006/relationships/slide" Target="/ppt/slides/slide6.xml" Id="R6530354ae3e547d8" /><Relationship Type="http://schemas.openxmlformats.org/officeDocument/2006/relationships/slide" Target="/ppt/slides/slide7.xml" Id="R825d9c3b3c7f48b3" /><Relationship Type="http://schemas.openxmlformats.org/officeDocument/2006/relationships/slide" Target="/ppt/slides/slide8.xml" Id="Ra11784e4b1fe42e5" /><Relationship Type="http://schemas.openxmlformats.org/officeDocument/2006/relationships/slide" Target="/ppt/slides/slide9.xml" Id="R6136027ebca1458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3c4d90bf504a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reamlin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ab284789a640d1" /><Relationship Type="http://schemas.openxmlformats.org/officeDocument/2006/relationships/notesMaster" Target="/ppt/notesMasters/notesMaster1.xml" Id="R0a02ea8d49ca479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8c74a1a1924099" /><Relationship Type="http://schemas.openxmlformats.org/officeDocument/2006/relationships/notesMaster" Target="/ppt/notesMasters/notesMaster1.xml" Id="R152332581e8e4e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bfd2881da547fa" /><Relationship Type="http://schemas.openxmlformats.org/officeDocument/2006/relationships/notesMaster" Target="/ppt/notesMasters/notesMaster1.xml" Id="R45c7555c98584e9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216320f43f4a9f" /><Relationship Type="http://schemas.openxmlformats.org/officeDocument/2006/relationships/notesMaster" Target="/ppt/notesMasters/notesMaster1.xml" Id="Rda41f0837057411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f015802a114ca3" /><Relationship Type="http://schemas.openxmlformats.org/officeDocument/2006/relationships/notesMaster" Target="/ppt/notesMasters/notesMaster1.xml" Id="Re969b67982254a0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e76e984adea4666" /><Relationship Type="http://schemas.openxmlformats.org/officeDocument/2006/relationships/notesMaster" Target="/ppt/notesMasters/notesMaster1.xml" Id="R7c613f4773d747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2ecc80cdb2a463f" /><Relationship Type="http://schemas.openxmlformats.org/officeDocument/2006/relationships/notesMaster" Target="/ppt/notesMasters/notesMaster1.xml" Id="Rdc32745cf3a346c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2a1b3a6e63401b" /><Relationship Type="http://schemas.openxmlformats.org/officeDocument/2006/relationships/notesMaster" Target="/ppt/notesMasters/notesMaster1.xml" Id="R3e6fff463d0542e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0993ded6874a53" /><Relationship Type="http://schemas.openxmlformats.org/officeDocument/2006/relationships/notesMaster" Target="/ppt/notesMasters/notesMaster1.xml" Id="Re778cbaa60f0431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br/>
            <a:r>
              <a:t>Sources : historique immobilier parisien 2017–2021 fourni avec le projet; calculs détaillés dans le notebook.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br/>
            <a:r>
              <a:t>Source : historique immobilier parisien 2017–2021 fourni avec le projet. Les moyennes d’arrondissement et corrélations sont descriptives.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br/>
            <a:r>
              <a:t>Sources : historique immobilier parisien 2017–2021 et portefeuille_actifs.xlsx. La valorisation est extrapolée au 31/12/2022.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br/>
            <a:r>
              <a:t>Source de l’échantillon : OpenClassrooms, echantillon_a_classer2.xlsx — https://s3.eu-west-1.amazonaws.com/course.oc-static.com/projects/Business+Intelligence+Analyst/BIA_project+8/echantillon_a_classer2.xlsx. Les étiquettes de référence de Louise ne sont pas disponibles.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 xmlns:a="http://schemas.openxmlformats.org/drawingml/2006/main">
            <a:br/>
            <a:r>
              <a:t>Source : historique immobilier parisien 2017–2021 fourni avec le projet. Le test 2021 est séparé de l’apprentissage; la comparaison des 40 opportunités reste à faire avec les étiquettes de Louise.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b1d1d132a4493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7cd49a0aa649e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29b925849242a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020a06068a47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ea2de47656474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5bc31375094f1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2df245a8d943e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8174c23066438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09ef6d15e74fb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b1be50f49d4a07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8a6765df14a5c" /></Relationships>
</file>

<file path=ppt/slideLayouts/slideLayout1.xml><?xml version="1.0" encoding="utf-8"?>
<p:sldLayout xmlns:p="http://schemas.openxmlformats.org/presentationml/2006/main" matchingName="Title slide" type="title">
  <p:cSld name="TITLE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622A991D-4985-4E92-8FEC-DE170077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8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F91B32B5-3971-4386-89B9-A8FDB626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380898" y="730268"/>
            <a:ext cx="17655" cy="9678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4DAB8519-5325-4DD3-9393-D1663DDF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009571" y="726176"/>
            <a:ext cx="17655" cy="9759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2">
            <a:extLst xmlns:a="http://schemas.openxmlformats.org/drawingml/2006/main">
              <a:ext uri="{FF2B5EF4-FFF2-40B4-BE49-F238E27FC236}">
                <a16:creationId xmlns:a16="http://schemas.microsoft.com/office/drawing/2014/main" id="{FA3866E6-6C86-4DD9-8CF1-9771A2D02F5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729450" y="1322450"/>
            <a:ext cx="7688100" cy="1664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15" name="Google Shape;15;p2">
            <a:extLst xmlns:a="http://schemas.openxmlformats.org/drawingml/2006/main">
              <a:ext uri="{FF2B5EF4-FFF2-40B4-BE49-F238E27FC236}">
                <a16:creationId xmlns:a16="http://schemas.microsoft.com/office/drawing/2014/main" id="{0C528DBD-87FA-4A7E-9B4D-789EF7D9686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29627" y="3172900"/>
            <a:ext cx="7688100" cy="541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16" name="Google Shape;16;p2">
            <a:extLst xmlns:a="http://schemas.openxmlformats.org/drawingml/2006/main">
              <a:ext uri="{FF2B5EF4-FFF2-40B4-BE49-F238E27FC236}">
                <a16:creationId xmlns:a16="http://schemas.microsoft.com/office/drawing/2014/main" id="{DCE11AC8-4D80-434D-BE64-4D0D1E6165C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4ADF402F-D22D-4621-94A4-462618036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380898" y="730268"/>
            <a:ext cx="17655" cy="9678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6D27C7A0-EADF-451F-90BD-3D4239FAB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009571" y="726176"/>
            <a:ext cx="17655" cy="9759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>
            <a:extLst xmlns:a="http://schemas.openxmlformats.org/drawingml/2006/main">
              <a:ext uri="{FF2B5EF4-FFF2-40B4-BE49-F238E27FC236}">
                <a16:creationId xmlns:a16="http://schemas.microsoft.com/office/drawing/2014/main" id="{96E034A3-1889-4BCF-88FB-882511DA0D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9450" y="1322450"/>
            <a:ext cx="7688400" cy="151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22" name="Google Shape;22;p3">
            <a:extLst xmlns:a="http://schemas.openxmlformats.org/drawingml/2006/main">
              <a:ext uri="{FF2B5EF4-FFF2-40B4-BE49-F238E27FC236}">
                <a16:creationId xmlns:a16="http://schemas.microsoft.com/office/drawing/2014/main" id="{2EEE989E-FDD2-4CE4-90CF-93FFB8629D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lt1"/>
                </a:solidFill>
              </a:defRPr>
            </a:lvl1pPr>
            <a:lvl2pPr>
              <a:buNone/>
              <a:defRPr>
                <a:solidFill>
                  <a:schemeClr val="lt1"/>
                </a:solidFill>
              </a:defRPr>
            </a:lvl2pPr>
            <a:lvl3pPr>
              <a:buNone/>
              <a:defRPr>
                <a:solidFill>
                  <a:schemeClr val="lt1"/>
                </a:solidFill>
              </a:defRPr>
            </a:lvl3pPr>
            <a:lvl4pPr>
              <a:buNone/>
              <a:defRPr>
                <a:solidFill>
                  <a:schemeClr val="lt1"/>
                </a:solidFill>
              </a:defRPr>
            </a:lvl4pPr>
            <a:lvl5pPr>
              <a:buNone/>
              <a:defRPr>
                <a:solidFill>
                  <a:schemeClr val="lt1"/>
                </a:solidFill>
              </a:defRPr>
            </a:lvl5pPr>
            <a:lvl6pPr>
              <a:buNone/>
              <a:defRPr>
                <a:solidFill>
                  <a:schemeClr val="lt1"/>
                </a:solidFill>
              </a:defRPr>
            </a:lvl6pPr>
            <a:lvl7pPr>
              <a:buNone/>
              <a:defRPr>
                <a:solidFill>
                  <a:schemeClr val="lt1"/>
                </a:solidFill>
              </a:defRPr>
            </a:lvl7pPr>
            <a:lvl8pPr>
              <a:buNone/>
              <a:defRPr>
                <a:solidFill>
                  <a:schemeClr val="lt1"/>
                </a:solidFill>
              </a:defRPr>
            </a:lvl8pPr>
            <a:lvl9pPr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1CF6460F-7C82-4DC2-875D-DF62EC4E4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8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72B4C0A0-6730-4F1F-AA3A-E4EBE2731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380898" y="730268"/>
            <a:ext cx="17655" cy="9678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4">
            <a:extLst xmlns:a="http://schemas.openxmlformats.org/drawingml/2006/main">
              <a:ext uri="{FF2B5EF4-FFF2-40B4-BE49-F238E27FC236}">
                <a16:creationId xmlns:a16="http://schemas.microsoft.com/office/drawing/2014/main" id="{D8D1B074-D5CE-426C-B9C9-48FE02C9D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009571" y="726176"/>
            <a:ext cx="17655" cy="9759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4">
            <a:extLst xmlns:a="http://schemas.openxmlformats.org/drawingml/2006/main">
              <a:ext uri="{FF2B5EF4-FFF2-40B4-BE49-F238E27FC236}">
                <a16:creationId xmlns:a16="http://schemas.microsoft.com/office/drawing/2014/main" id="{9CDD7B5B-5654-428B-90AA-61C888F74C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9450" y="1318650"/>
            <a:ext cx="7688700" cy="5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 xmlns:a="http://schemas.openxmlformats.org/drawingml/2006/main"/>
        </p:txBody>
      </p:sp>
      <p:sp>
        <p:nvSpPr>
          <p:cNvPr id="29" name="Google Shape;29;p4">
            <a:extLst xmlns:a="http://schemas.openxmlformats.org/drawingml/2006/main">
              <a:ext uri="{FF2B5EF4-FFF2-40B4-BE49-F238E27FC236}">
                <a16:creationId xmlns:a16="http://schemas.microsoft.com/office/drawing/2014/main" id="{B4EDE0F7-6BCC-4A40-A2F5-64B5ACBFD23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9450" y="2078875"/>
            <a:ext cx="7688700" cy="226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30" name="Google Shape;30;p4">
            <a:extLst xmlns:a="http://schemas.openxmlformats.org/drawingml/2006/main">
              <a:ext uri="{FF2B5EF4-FFF2-40B4-BE49-F238E27FC236}">
                <a16:creationId xmlns:a16="http://schemas.microsoft.com/office/drawing/2014/main" id="{719673D4-337C-4EA6-91F7-8D3022B6E5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50AC9B75-1282-4FFE-A1FB-05EFD79D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8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5">
            <a:extLst xmlns:a="http://schemas.openxmlformats.org/drawingml/2006/main">
              <a:ext uri="{FF2B5EF4-FFF2-40B4-BE49-F238E27FC236}">
                <a16:creationId xmlns:a16="http://schemas.microsoft.com/office/drawing/2014/main" id="{31F6686A-B1E4-4B38-8104-B4978072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380898" y="730268"/>
            <a:ext cx="17655" cy="9678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5">
            <a:extLst xmlns:a="http://schemas.openxmlformats.org/drawingml/2006/main">
              <a:ext uri="{FF2B5EF4-FFF2-40B4-BE49-F238E27FC236}">
                <a16:creationId xmlns:a16="http://schemas.microsoft.com/office/drawing/2014/main" id="{11A59890-2066-4CF6-A78D-AB1C41C6F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009571" y="726176"/>
            <a:ext cx="17655" cy="9759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5">
            <a:extLst xmlns:a="http://schemas.openxmlformats.org/drawingml/2006/main">
              <a:ext uri="{FF2B5EF4-FFF2-40B4-BE49-F238E27FC236}">
                <a16:creationId xmlns:a16="http://schemas.microsoft.com/office/drawing/2014/main" id="{5173A6E5-13DB-4FE5-8A1D-9BA77B7ED6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9450" y="1318650"/>
            <a:ext cx="7688400" cy="5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 xmlns:a="http://schemas.openxmlformats.org/drawingml/2006/main"/>
        </p:txBody>
      </p:sp>
      <p:sp>
        <p:nvSpPr>
          <p:cNvPr id="37" name="Google Shape;37;p5">
            <a:extLst xmlns:a="http://schemas.openxmlformats.org/drawingml/2006/main">
              <a:ext uri="{FF2B5EF4-FFF2-40B4-BE49-F238E27FC236}">
                <a16:creationId xmlns:a16="http://schemas.microsoft.com/office/drawing/2014/main" id="{A867E649-8938-43FA-8548-96466465102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9325" y="2078875"/>
            <a:ext cx="3774300" cy="226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38" name="Google Shape;38;p5">
            <a:extLst xmlns:a="http://schemas.openxmlformats.org/drawingml/2006/main">
              <a:ext uri="{FF2B5EF4-FFF2-40B4-BE49-F238E27FC236}">
                <a16:creationId xmlns:a16="http://schemas.microsoft.com/office/drawing/2014/main" id="{965744C5-7846-4911-A86D-0D114560AEC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643604" y="2078875"/>
            <a:ext cx="3774300" cy="226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39" name="Google Shape;39;p5">
            <a:extLst xmlns:a="http://schemas.openxmlformats.org/drawingml/2006/main">
              <a:ext uri="{FF2B5EF4-FFF2-40B4-BE49-F238E27FC236}">
                <a16:creationId xmlns:a16="http://schemas.microsoft.com/office/drawing/2014/main" id="{18661969-857A-4B6A-81E5-8F27CD21D7B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6">
            <a:extLst xmlns:a="http://schemas.openxmlformats.org/drawingml/2006/main">
              <a:ext uri="{FF2B5EF4-FFF2-40B4-BE49-F238E27FC236}">
                <a16:creationId xmlns:a16="http://schemas.microsoft.com/office/drawing/2014/main" id="{A643AFC6-5083-4C3D-9594-9F0535BB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8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6">
            <a:extLst xmlns:a="http://schemas.openxmlformats.org/drawingml/2006/main">
              <a:ext uri="{FF2B5EF4-FFF2-40B4-BE49-F238E27FC236}">
                <a16:creationId xmlns:a16="http://schemas.microsoft.com/office/drawing/2014/main" id="{3CB25DCC-1A19-4FB5-8ADB-FAEBC8E17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380898" y="730268"/>
            <a:ext cx="17655" cy="9678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6">
            <a:extLst xmlns:a="http://schemas.openxmlformats.org/drawingml/2006/main">
              <a:ext uri="{FF2B5EF4-FFF2-40B4-BE49-F238E27FC236}">
                <a16:creationId xmlns:a16="http://schemas.microsoft.com/office/drawing/2014/main" id="{9288257D-804D-4A41-AB11-FF979B05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009571" y="726176"/>
            <a:ext cx="17655" cy="9759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6">
            <a:extLst xmlns:a="http://schemas.openxmlformats.org/drawingml/2006/main">
              <a:ext uri="{FF2B5EF4-FFF2-40B4-BE49-F238E27FC236}">
                <a16:creationId xmlns:a16="http://schemas.microsoft.com/office/drawing/2014/main" id="{57DCBA0D-DD36-4352-A7D5-B5BDCDDE86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9450" y="1318650"/>
            <a:ext cx="7688400" cy="5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 xmlns:a="http://schemas.openxmlformats.org/drawingml/2006/main"/>
        </p:txBody>
      </p:sp>
      <p:sp>
        <p:nvSpPr>
          <p:cNvPr id="46" name="Google Shape;46;p6">
            <a:extLst xmlns:a="http://schemas.openxmlformats.org/drawingml/2006/main">
              <a:ext uri="{FF2B5EF4-FFF2-40B4-BE49-F238E27FC236}">
                <a16:creationId xmlns:a16="http://schemas.microsoft.com/office/drawing/2014/main" id="{E9AFE5E2-C0D2-4601-9ED7-B72E8CB6E5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2ECAF817-6457-450B-B137-E105A76B2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44000" cy="4878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" name="Google Shape;50;p7">
            <a:extLst xmlns:a="http://schemas.openxmlformats.org/drawingml/2006/main">
              <a:ext uri="{FF2B5EF4-FFF2-40B4-BE49-F238E27FC236}">
                <a16:creationId xmlns:a16="http://schemas.microsoft.com/office/drawing/2014/main" id="{E8E11926-586E-4392-A845-814485EC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380898" y="730268"/>
            <a:ext cx="17655" cy="9678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" name="Google Shape;51;p7">
            <a:extLst xmlns:a="http://schemas.openxmlformats.org/drawingml/2006/main">
              <a:ext uri="{FF2B5EF4-FFF2-40B4-BE49-F238E27FC236}">
                <a16:creationId xmlns:a16="http://schemas.microsoft.com/office/drawing/2014/main" id="{D6A5AA92-D47F-44F6-95E9-A978B55DE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009571" y="726176"/>
            <a:ext cx="17655" cy="9759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7">
            <a:extLst xmlns:a="http://schemas.openxmlformats.org/drawingml/2006/main">
              <a:ext uri="{FF2B5EF4-FFF2-40B4-BE49-F238E27FC236}">
                <a16:creationId xmlns:a16="http://schemas.microsoft.com/office/drawing/2014/main" id="{12440F4F-2151-45EB-B91F-2E57087F94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30000" y="1318650"/>
            <a:ext cx="3300900" cy="138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 xmlns:a="http://schemas.openxmlformats.org/drawingml/2006/main"/>
        </p:txBody>
      </p:sp>
      <p:sp>
        <p:nvSpPr>
          <p:cNvPr id="53" name="Google Shape;53;p7">
            <a:extLst xmlns:a="http://schemas.openxmlformats.org/drawingml/2006/main">
              <a:ext uri="{FF2B5EF4-FFF2-40B4-BE49-F238E27FC236}">
                <a16:creationId xmlns:a16="http://schemas.microsoft.com/office/drawing/2014/main" id="{2A2494B8-FDED-4EF4-9E65-4B14CBD433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1225" y="2781725"/>
            <a:ext cx="3300900" cy="1597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54" name="Google Shape;54;p7">
            <a:extLst xmlns:a="http://schemas.openxmlformats.org/drawingml/2006/main">
              <a:ext uri="{FF2B5EF4-FFF2-40B4-BE49-F238E27FC236}">
                <a16:creationId xmlns:a16="http://schemas.microsoft.com/office/drawing/2014/main" id="{8A51B06E-3764-419B-B08C-8C63CB3D6EF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bg>
      <p:bgPr>
        <a:solidFill xmlns:a="http://schemas.openxmlformats.org/drawingml/2006/main">
          <a:schemeClr val="accent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Google Shape;57;p8">
            <a:extLst xmlns:a="http://schemas.openxmlformats.org/drawingml/2006/main">
              <a:ext uri="{FF2B5EF4-FFF2-40B4-BE49-F238E27FC236}">
                <a16:creationId xmlns:a16="http://schemas.microsoft.com/office/drawing/2014/main" id="{336EDC41-C8C1-4AF2-9925-894104A91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380898" y="3708142"/>
            <a:ext cx="17655" cy="9678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8">
            <a:extLst xmlns:a="http://schemas.openxmlformats.org/drawingml/2006/main">
              <a:ext uri="{FF2B5EF4-FFF2-40B4-BE49-F238E27FC236}">
                <a16:creationId xmlns:a16="http://schemas.microsoft.com/office/drawing/2014/main" id="{FDB18C0D-AC90-4C18-A996-5109C3238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009571" y="3704050"/>
            <a:ext cx="17655" cy="9759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8">
            <a:extLst xmlns:a="http://schemas.openxmlformats.org/drawingml/2006/main">
              <a:ext uri="{FF2B5EF4-FFF2-40B4-BE49-F238E27FC236}">
                <a16:creationId xmlns:a16="http://schemas.microsoft.com/office/drawing/2014/main" id="{1CD909CC-DE12-4048-A680-563AD7C36B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9450" y="864300"/>
            <a:ext cx="7021200" cy="2985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60" name="Google Shape;60;p8">
            <a:extLst xmlns:a="http://schemas.openxmlformats.org/drawingml/2006/main">
              <a:ext uri="{FF2B5EF4-FFF2-40B4-BE49-F238E27FC236}">
                <a16:creationId xmlns:a16="http://schemas.microsoft.com/office/drawing/2014/main" id="{CEDD819B-C85C-4A22-B984-3C24D54E44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lt1"/>
                </a:solidFill>
              </a:defRPr>
            </a:lvl1pPr>
            <a:lvl2pPr>
              <a:buNone/>
              <a:defRPr>
                <a:solidFill>
                  <a:schemeClr val="lt1"/>
                </a:solidFill>
              </a:defRPr>
            </a:lvl2pPr>
            <a:lvl3pPr>
              <a:buNone/>
              <a:defRPr>
                <a:solidFill>
                  <a:schemeClr val="lt1"/>
                </a:solidFill>
              </a:defRPr>
            </a:lvl3pPr>
            <a:lvl4pPr>
              <a:buNone/>
              <a:defRPr>
                <a:solidFill>
                  <a:schemeClr val="lt1"/>
                </a:solidFill>
              </a:defRPr>
            </a:lvl4pPr>
            <a:lvl5pPr>
              <a:buNone/>
              <a:defRPr>
                <a:solidFill>
                  <a:schemeClr val="lt1"/>
                </a:solidFill>
              </a:defRPr>
            </a:lvl5pPr>
            <a:lvl6pPr>
              <a:buNone/>
              <a:defRPr>
                <a:solidFill>
                  <a:schemeClr val="lt1"/>
                </a:solidFill>
              </a:defRPr>
            </a:lvl6pPr>
            <a:lvl7pPr>
              <a:buNone/>
              <a:defRPr>
                <a:solidFill>
                  <a:schemeClr val="lt1"/>
                </a:solidFill>
              </a:defRPr>
            </a:lvl7pPr>
            <a:lvl8pPr>
              <a:buNone/>
              <a:defRPr>
                <a:solidFill>
                  <a:schemeClr val="lt1"/>
                </a:solidFill>
              </a:defRPr>
            </a:lvl8pPr>
            <a:lvl9pPr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Google Shape;62;p9">
            <a:extLst xmlns:a="http://schemas.openxmlformats.org/drawingml/2006/main">
              <a:ext uri="{FF2B5EF4-FFF2-40B4-BE49-F238E27FC236}">
                <a16:creationId xmlns:a16="http://schemas.microsoft.com/office/drawing/2014/main" id="{6CCAD1D7-3694-4D74-AB1A-A8AABB4E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9">
            <a:extLst xmlns:a="http://schemas.openxmlformats.org/drawingml/2006/main">
              <a:ext uri="{FF2B5EF4-FFF2-40B4-BE49-F238E27FC236}">
                <a16:creationId xmlns:a16="http://schemas.microsoft.com/office/drawing/2014/main" id="{6AEBB847-657F-40EC-8A47-D929AD26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380898" y="730268"/>
            <a:ext cx="17655" cy="9678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9">
            <a:extLst xmlns:a="http://schemas.openxmlformats.org/drawingml/2006/main">
              <a:ext uri="{FF2B5EF4-FFF2-40B4-BE49-F238E27FC236}">
                <a16:creationId xmlns:a16="http://schemas.microsoft.com/office/drawing/2014/main" id="{4F39717C-1C12-4136-915C-0D6E4BBA8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009571" y="726176"/>
            <a:ext cx="17655" cy="9759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dk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9">
            <a:extLst xmlns:a="http://schemas.openxmlformats.org/drawingml/2006/main">
              <a:ext uri="{FF2B5EF4-FFF2-40B4-BE49-F238E27FC236}">
                <a16:creationId xmlns:a16="http://schemas.microsoft.com/office/drawing/2014/main" id="{FA03F87F-E024-4942-BD8C-A96AE31781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30000" y="1318650"/>
            <a:ext cx="3300900" cy="168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 xmlns:a="http://schemas.openxmlformats.org/drawingml/2006/main"/>
        </p:txBody>
      </p:sp>
      <p:sp>
        <p:nvSpPr>
          <p:cNvPr id="67" name="Google Shape;67;p9">
            <a:extLst xmlns:a="http://schemas.openxmlformats.org/drawingml/2006/main">
              <a:ext uri="{FF2B5EF4-FFF2-40B4-BE49-F238E27FC236}">
                <a16:creationId xmlns:a16="http://schemas.microsoft.com/office/drawing/2014/main" id="{3368479A-3512-4BCF-862B-AB964F350E5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724950" y="3161525"/>
            <a:ext cx="3300900" cy="759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68" name="Google Shape;68;p9">
            <a:extLst xmlns:a="http://schemas.openxmlformats.org/drawingml/2006/main">
              <a:ext uri="{FF2B5EF4-FFF2-40B4-BE49-F238E27FC236}">
                <a16:creationId xmlns:a16="http://schemas.microsoft.com/office/drawing/2014/main" id="{91BB3AE4-8862-4373-8D4A-94C700E209D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5174225" y="1352625"/>
            <a:ext cx="3374400" cy="3025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69" name="Google Shape;69;p9">
            <a:extLst xmlns:a="http://schemas.openxmlformats.org/drawingml/2006/main">
              <a:ext uri="{FF2B5EF4-FFF2-40B4-BE49-F238E27FC236}">
                <a16:creationId xmlns:a16="http://schemas.microsoft.com/office/drawing/2014/main" id="{A2E316CC-E0BB-40A8-88BC-4B7FFD5E0C9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1" name="Google Shape;71;p10">
            <a:extLst xmlns:a="http://schemas.openxmlformats.org/drawingml/2006/main">
              <a:ext uri="{FF2B5EF4-FFF2-40B4-BE49-F238E27FC236}">
                <a16:creationId xmlns:a16="http://schemas.microsoft.com/office/drawing/2014/main" id="{3A8F9002-517B-4AF4-A7F7-89EF53A7AF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4950" y="4372551"/>
            <a:ext cx="7697400" cy="46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 xmlns:a="http://schemas.openxmlformats.org/drawingml/2006/main"/>
        </p:txBody>
      </p:sp>
      <p:sp>
        <p:nvSpPr>
          <p:cNvPr id="72" name="Google Shape;72;p10">
            <a:extLst xmlns:a="http://schemas.openxmlformats.org/drawingml/2006/main">
              <a:ext uri="{FF2B5EF4-FFF2-40B4-BE49-F238E27FC236}">
                <a16:creationId xmlns:a16="http://schemas.microsoft.com/office/drawing/2014/main" id="{61193A14-D3D3-4B82-B4A1-D963C31144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bg>
      <p:bgPr>
        <a:solidFill xmlns:a="http://schemas.openxmlformats.org/drawingml/2006/main">
          <a:schemeClr val="dk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5" name="Google Shape;75;p11">
            <a:extLst xmlns:a="http://schemas.openxmlformats.org/drawingml/2006/main">
              <a:ext uri="{FF2B5EF4-FFF2-40B4-BE49-F238E27FC236}">
                <a16:creationId xmlns:a16="http://schemas.microsoft.com/office/drawing/2014/main" id="{E31764F6-1EDB-4D8F-B14B-108FE538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380898" y="3708142"/>
            <a:ext cx="17655" cy="967801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1">
            <a:extLst xmlns:a="http://schemas.openxmlformats.org/drawingml/2006/main">
              <a:ext uri="{FF2B5EF4-FFF2-40B4-BE49-F238E27FC236}">
                <a16:creationId xmlns:a16="http://schemas.microsoft.com/office/drawing/2014/main" id="{4AB17502-E593-42D7-81F5-D782F1C5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0" flipV="0">
            <a:off x="1009571" y="3704050"/>
            <a:ext cx="17655" cy="9759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1">
            <a:extLst xmlns:a="http://schemas.openxmlformats.org/drawingml/2006/main">
              <a:ext uri="{FF2B5EF4-FFF2-40B4-BE49-F238E27FC236}">
                <a16:creationId xmlns:a16="http://schemas.microsoft.com/office/drawing/2014/main" id="{FA2C56CC-2C6E-4675-912C-3D0A2974057D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729450" y="733950"/>
            <a:ext cx="7688400" cy="1244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78" name="Google Shape;78;p11">
            <a:extLst xmlns:a="http://schemas.openxmlformats.org/drawingml/2006/main">
              <a:ext uri="{FF2B5EF4-FFF2-40B4-BE49-F238E27FC236}">
                <a16:creationId xmlns:a16="http://schemas.microsoft.com/office/drawing/2014/main" id="{F26DDA2A-C1E4-41B7-B191-0A36738869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9450" y="2272888"/>
            <a:ext cx="7688400" cy="1580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9" name="Google Shape;79;p11">
            <a:extLst xmlns:a="http://schemas.openxmlformats.org/drawingml/2006/main">
              <a:ext uri="{FF2B5EF4-FFF2-40B4-BE49-F238E27FC236}">
                <a16:creationId xmlns:a16="http://schemas.microsoft.com/office/drawing/2014/main" id="{00B23FE5-05B5-4807-9183-3BA2325730C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lt1"/>
                </a:solidFill>
              </a:defRPr>
            </a:lvl1pPr>
            <a:lvl2pPr>
              <a:buNone/>
              <a:defRPr>
                <a:solidFill>
                  <a:schemeClr val="lt1"/>
                </a:solidFill>
              </a:defRPr>
            </a:lvl2pPr>
            <a:lvl3pPr>
              <a:buNone/>
              <a:defRPr>
                <a:solidFill>
                  <a:schemeClr val="lt1"/>
                </a:solidFill>
              </a:defRPr>
            </a:lvl3pPr>
            <a:lvl4pPr>
              <a:buNone/>
              <a:defRPr>
                <a:solidFill>
                  <a:schemeClr val="lt1"/>
                </a:solidFill>
              </a:defRPr>
            </a:lvl4pPr>
            <a:lvl5pPr>
              <a:buNone/>
              <a:defRPr>
                <a:solidFill>
                  <a:schemeClr val="lt1"/>
                </a:solidFill>
              </a:defRPr>
            </a:lvl5pPr>
            <a:lvl6pPr>
              <a:buNone/>
              <a:defRPr>
                <a:solidFill>
                  <a:schemeClr val="lt1"/>
                </a:solidFill>
              </a:defRPr>
            </a:lvl6pPr>
            <a:lvl7pPr>
              <a:buNone/>
              <a:defRPr>
                <a:solidFill>
                  <a:schemeClr val="lt1"/>
                </a:solidFill>
              </a:defRPr>
            </a:lvl7pPr>
            <a:lvl8pPr>
              <a:buNone/>
              <a:defRPr>
                <a:solidFill>
                  <a:schemeClr val="lt1"/>
                </a:solidFill>
              </a:defRPr>
            </a:lvl8pPr>
            <a:lvl9pPr>
              <a:buNone/>
              <a:defRPr>
                <a:solidFill>
                  <a:schemeClr val="lt1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1" name="Google Shape;81;p12">
            <a:extLst xmlns:a="http://schemas.openxmlformats.org/drawingml/2006/main">
              <a:ext uri="{FF2B5EF4-FFF2-40B4-BE49-F238E27FC236}">
                <a16:creationId xmlns:a16="http://schemas.microsoft.com/office/drawing/2014/main" id="{135E6616-E473-40DA-A775-4F9E2E5E5C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6153815dce4e2d" /><Relationship Type="http://schemas.openxmlformats.org/officeDocument/2006/relationships/slideLayout" Target="/ppt/slideLayouts/slideLayout1.xml" Id="R283d2bf197cb4630" /><Relationship Type="http://schemas.openxmlformats.org/officeDocument/2006/relationships/slideLayout" Target="/ppt/slideLayouts/slideLayout2.xml" Id="R62f24c056ed64a57" /><Relationship Type="http://schemas.openxmlformats.org/officeDocument/2006/relationships/slideLayout" Target="/ppt/slideLayouts/slideLayout3.xml" Id="R45e3cf31e6e2441c" /><Relationship Type="http://schemas.openxmlformats.org/officeDocument/2006/relationships/slideLayout" Target="/ppt/slideLayouts/slideLayout4.xml" Id="R52d2da317ddf408d" /><Relationship Type="http://schemas.openxmlformats.org/officeDocument/2006/relationships/slideLayout" Target="/ppt/slideLayouts/slideLayout5.xml" Id="R9f9357c4275f44cf" /><Relationship Type="http://schemas.openxmlformats.org/officeDocument/2006/relationships/slideLayout" Target="/ppt/slideLayouts/slideLayout6.xml" Id="R8ad5c675d3cf4084" /><Relationship Type="http://schemas.openxmlformats.org/officeDocument/2006/relationships/slideLayout" Target="/ppt/slideLayouts/slideLayout7.xml" Id="R6200afabd57e4e3d" /><Relationship Type="http://schemas.openxmlformats.org/officeDocument/2006/relationships/slideLayout" Target="/ppt/slideLayouts/slideLayout8.xml" Id="R12c0d453fd944748" /><Relationship Type="http://schemas.openxmlformats.org/officeDocument/2006/relationships/slideLayout" Target="/ppt/slideLayouts/slideLayout9.xml" Id="R761602dc1a0445a2" /><Relationship Type="http://schemas.openxmlformats.org/officeDocument/2006/relationships/slideLayout" Target="/ppt/slideLayouts/slideLayout10.xml" Id="R09a2142511a44089" /><Relationship Type="http://schemas.openxmlformats.org/officeDocument/2006/relationships/slideLayout" Target="/ppt/slideLayouts/slideLayout11.xml" Id="R0db87036afc74099" /></Relationships>
</file>

<file path=ppt/slideMasters/slideMaster1.xml><?xml version="1.0" encoding="utf-8"?>
<p:sldMaster xmlns:p="http://schemas.openxmlformats.org/presentationml/2006/main">
  <p:cSld name="streamline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F5710C9E-E022-45C7-89D3-0D65B551680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D590357B-5597-48E7-84F8-5A8D9923D6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1pPr>
            <a:lvl2pPr marL="914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2pPr>
            <a:lvl3pPr marL="1371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3pPr>
            <a:lvl4pPr marL="1828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4pPr>
            <a:lvl5pPr marL="22860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5pPr>
            <a:lvl6pPr marL="27432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6pPr>
            <a:lvl7pPr marL="32004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7pPr>
            <a:lvl8pPr marL="36576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8pPr>
            <a:lvl9pPr marL="4114800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578CED94-D2C1-4A24-96B8-CD49EB12B4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536302" y="4749851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1pPr>
            <a:lvl2pPr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2pPr>
            <a:lvl3pPr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3pPr>
            <a:lvl4pPr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4pPr>
            <a:lvl5pPr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5pPr>
            <a:lvl6pPr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6pPr>
            <a:lvl7pPr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7pPr>
            <a:lvl8pPr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8pPr>
            <a:lvl9pPr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3d2bf197cb4630"/>
    <p:sldLayoutId xmlns:r="http://schemas.openxmlformats.org/officeDocument/2006/relationships" id="2147483650" r:id="R62f24c056ed64a57"/>
    <p:sldLayoutId xmlns:r="http://schemas.openxmlformats.org/officeDocument/2006/relationships" id="2147483651" r:id="R45e3cf31e6e2441c"/>
    <p:sldLayoutId xmlns:r="http://schemas.openxmlformats.org/officeDocument/2006/relationships" id="2147483652" r:id="R52d2da317ddf408d"/>
    <p:sldLayoutId xmlns:r="http://schemas.openxmlformats.org/officeDocument/2006/relationships" id="2147483653" r:id="R9f9357c4275f44cf"/>
    <p:sldLayoutId xmlns:r="http://schemas.openxmlformats.org/officeDocument/2006/relationships" id="2147483654" r:id="R8ad5c675d3cf4084"/>
    <p:sldLayoutId xmlns:r="http://schemas.openxmlformats.org/officeDocument/2006/relationships" id="2147483655" r:id="R6200afabd57e4e3d"/>
    <p:sldLayoutId xmlns:r="http://schemas.openxmlformats.org/officeDocument/2006/relationships" id="2147483656" r:id="R12c0d453fd944748"/>
    <p:sldLayoutId xmlns:r="http://schemas.openxmlformats.org/officeDocument/2006/relationships" id="2147483657" r:id="R761602dc1a0445a2"/>
    <p:sldLayoutId xmlns:r="http://schemas.openxmlformats.org/officeDocument/2006/relationships" id="2147483658" r:id="R09a2142511a44089"/>
    <p:sldLayoutId xmlns:r="http://schemas.openxmlformats.org/officeDocument/2006/relationships" id="2147483659" r:id="R0db87036afc74099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reamlin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da8d0cf106438e" /><Relationship Type="http://schemas.openxmlformats.org/officeDocument/2006/relationships/notesSlide" Target="/ppt/notesSlides/notesSlide1.xml" Id="R54848067ac274db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ff458a0308404c" /><Relationship Type="http://schemas.openxmlformats.org/officeDocument/2006/relationships/image" Target="/ppt/media/image.png" Id="Rf440afebb4b548d4" /><Relationship Type="http://schemas.openxmlformats.org/officeDocument/2006/relationships/notesSlide" Target="/ppt/notesSlides/notesSlide2.xml" Id="R7c42a67a708c43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7965c0838044156" /><Relationship Type="http://schemas.openxmlformats.org/officeDocument/2006/relationships/image" Target="/ppt/media/image2.png" Id="R2074f8e01e0241e6" /><Relationship Type="http://schemas.openxmlformats.org/officeDocument/2006/relationships/notesSlide" Target="/ppt/notesSlides/notesSlide3.xml" Id="R42f1b5b3bc2e43f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7603b2138b64f12" /><Relationship Type="http://schemas.openxmlformats.org/officeDocument/2006/relationships/notesSlide" Target="/ppt/notesSlides/notesSlide4.xml" Id="Rbd21d8d8365642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f2008c6b6b44457" /><Relationship Type="http://schemas.openxmlformats.org/officeDocument/2006/relationships/notesSlide" Target="/ppt/notesSlides/notesSlide5.xml" Id="R5405f37961eb4e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9e8e99222745bd" /><Relationship Type="http://schemas.openxmlformats.org/officeDocument/2006/relationships/notesSlide" Target="/ppt/notesSlides/notesSlide6.xml" Id="R510e402450df47c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e99ac70384846" /><Relationship Type="http://schemas.openxmlformats.org/officeDocument/2006/relationships/image" Target="/ppt/media/image.png" Id="Re82303f65f814343" /><Relationship Type="http://schemas.openxmlformats.org/officeDocument/2006/relationships/notesSlide" Target="/ppt/notesSlides/notesSlide7.xml" Id="Raa6fc866cf46451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1815cfd710f48a3" /><Relationship Type="http://schemas.openxmlformats.org/officeDocument/2006/relationships/notesSlide" Target="/ppt/notesSlides/notesSlide8.xml" Id="R946c917097b542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0133d9f19354068" /><Relationship Type="http://schemas.openxmlformats.org/officeDocument/2006/relationships/image" Target="/ppt/media/image3.png" Id="Ra76592d2b0de4ffd" /><Relationship Type="http://schemas.openxmlformats.org/officeDocument/2006/relationships/notesSlide" Target="/ppt/notesSlides/notesSlide9.xml" Id="R3512e3d87c3b43c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Google Shape;86;p13">
            <a:extLst xmlns:a="http://schemas.openxmlformats.org/drawingml/2006/main">
              <a:ext uri="{FF2B5EF4-FFF2-40B4-BE49-F238E27FC236}">
                <a16:creationId xmlns:a16="http://schemas.microsoft.com/office/drawing/2014/main" id="{D89DE2FB-4F30-450E-A5FE-0D4976E970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9450" y="1322450"/>
            <a:ext cx="7688400" cy="151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Les Plus Beaux Logis de Paris</a:t>
            </a:r>
            <a:endParaRPr/>
          </a:p>
          <a:p xmlns:a="http://schemas.openxmlformats.org/drawingml/2006/main">
            <a:pPr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Analyse immobilière · Partie 1</a:t>
            </a:r>
          </a:p>
        </p:txBody>
      </p:sp>
    </p:spTree>
    <p:extLst>
      <p:ext uri="{BB962C8B-B14F-4D97-AF65-F5344CB8AC3E}">
        <p14:creationId xmlns:p14="http://schemas.microsoft.com/office/powerpoint/2010/main" val="156069849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14">
            <a:extLst xmlns:a="http://schemas.openxmlformats.org/drawingml/2006/main">
              <a:ext uri="{FF2B5EF4-FFF2-40B4-BE49-F238E27FC236}">
                <a16:creationId xmlns:a16="http://schemas.microsoft.com/office/drawing/2014/main" id="{19C06A7C-FF9E-4E12-B272-ECC5F41B0EA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23400" y="2612200"/>
            <a:ext cx="8520600" cy="144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 fontScale="62500" lnSpcReduction="2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ct val="50000"/>
              <a:buFont typeface="Arial"/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Analysez l’évolution des prix de l’immobilier avec Python</a:t>
            </a:r>
            <a:endParaRPr sz="2200" i="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  <a:p xmlns:a="http://schemas.openxmlformats.org/drawingml/2006/main">
            <a:pPr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Steve Bell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6 octobre 2026</a:t>
            </a:r>
          </a:p>
        </p:txBody>
      </p:sp>
      <p:pic>
        <p:nvPicPr>
          <p:cNvPr id="92" name="Google Shape;92;p14">
            <a:extLst xmlns:a="http://schemas.openxmlformats.org/drawingml/2006/main">
              <a:ext uri="{FF2B5EF4-FFF2-40B4-BE49-F238E27FC236}">
                <a16:creationId xmlns:a16="http://schemas.microsoft.com/office/drawing/2014/main" id="{4B240964-02C3-4734-9167-A7F6D806E5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40afebb4b548d4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400" y="89925"/>
            <a:ext cx="3669750" cy="1645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3" name="Google Shape;93;p14">
            <a:extLst xmlns:a="http://schemas.openxmlformats.org/drawingml/2006/main">
              <a:ext uri="{FF2B5EF4-FFF2-40B4-BE49-F238E27FC236}">
                <a16:creationId xmlns:a16="http://schemas.microsoft.com/office/drawing/2014/main" id="{B81F4C03-B76A-419C-9BFF-E4D7B7D88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150" y="4324050"/>
            <a:ext cx="6828000" cy="4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spAutoFit/>
          </a:bodyPr>
          <a:lstStyle xmlns:a="http://schemas.openxmlformats.org/drawingml/2006/main"/>
          <a:p xmlns:a="http://schemas.openxmlformats.org/drawingml/2006/main">
            <a:r>
              <a:t>Analyse 2017–2021 · Modèle testé sur 2021 · Portefeuille estimé au 31/12/2022</a:t>
            </a:r>
          </a:p>
        </p:txBody>
      </p:sp>
    </p:spTree>
    <p:extLst>
      <p:ext uri="{BB962C8B-B14F-4D97-AF65-F5344CB8AC3E}">
        <p14:creationId xmlns:p14="http://schemas.microsoft.com/office/powerpoint/2010/main" val="182400277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Google Shape;98;p15">
            <a:extLst xmlns:a="http://schemas.openxmlformats.org/drawingml/2006/main">
              <a:ext uri="{FF2B5EF4-FFF2-40B4-BE49-F238E27FC236}">
                <a16:creationId xmlns:a16="http://schemas.microsoft.com/office/drawing/2014/main" id="{9B9B70AA-374B-4F1A-A739-147630B40B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7650" y="605575"/>
            <a:ext cx="7688700" cy="5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457200" lvl="0" indent="-415290" algn="l">
              <a:spcBef>
                <a:spcPts val="0"/>
              </a:spcBef>
              <a:spcAft>
                <a:spcPts val="1000"/>
              </a:spcAft>
              <a:buSzPts val="2940"/>
              <a:buFont typeface="Montserrat"/>
              <a:buAutoNum type="romanUcPeriod"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Évolution du marché parisien</a:t>
            </a:r>
            <a:endParaRPr sz="2520"/>
          </a:p>
        </p:txBody>
      </p:sp>
      <p:sp>
        <p:nvSpPr>
          <p:cNvPr id="99" name="Google Shape;99;p15">
            <a:extLst xmlns:a="http://schemas.openxmlformats.org/drawingml/2006/main">
              <a:ext uri="{FF2B5EF4-FFF2-40B4-BE49-F238E27FC236}">
                <a16:creationId xmlns:a16="http://schemas.microsoft.com/office/drawing/2014/main" id="{8A73D4D3-AEE5-4883-8743-019713B81A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9450" y="1402775"/>
            <a:ext cx="7688700" cy="293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200"/>
              </a:spcAft>
              <a:buNone/>
            </a:pPr>
            <a:endParaRPr i="1">
              <a:latin typeface="Montserrat"/>
              <a:ea typeface="Montserrat"/>
              <a:cs typeface="Montserrat"/>
            </a:endParaRPr>
          </a:p>
        </p:txBody>
      </p:sp>
      <p:pic>
        <p:nvPicPr>
          <p:cNvPr id="100" name="Picture 99">
            <a:extLst xmlns:a="http://schemas.openxmlformats.org/drawingml/2006/main">
              <a:ext uri="{FF2B5EF4-FFF2-40B4-BE49-F238E27FC236}">
                <a16:creationId xmlns:a16="http://schemas.microsoft.com/office/drawing/2014/main" id="{247F1178-B195-40B5-A777-2CA82F2F57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74f8e01e0241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1325880"/>
            <a:ext cx="5303520" cy="2613029"/>
          </a:xfrm>
          <a:prstGeom xmlns:a="http://schemas.openxmlformats.org/drawingml/2006/main" prst="rect">
            <a:avLst/>
          </a:prstGeom>
        </p:spPr>
      </p:pic>
      <p:sp>
        <p:nvSpPr>
          <p:cNvPr id="101" name="TextBox 100">
            <a:extLst xmlns:a="http://schemas.openxmlformats.org/drawingml/2006/main">
              <a:ext uri="{FF2B5EF4-FFF2-40B4-BE49-F238E27FC236}">
                <a16:creationId xmlns:a16="http://schemas.microsoft.com/office/drawing/2014/main" id="{8E9694C3-B7A8-4B4F-8C97-158A6DDC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463040"/>
            <a:ext cx="2606040" cy="3652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Moyenne 2017 : 9 493 €/m²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Moyenne 2020 : 10 675 €/m²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Moyenne 2021 : 10 456 €/m²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Écart 2017–2021 : +10,1 %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Recul 2021 : −2,1 % par rapport à 2020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Moyennes nominales, non ajustées de l’inflation.</a:t>
            </a:r>
          </a:p>
        </p:txBody>
      </p:sp>
    </p:spTree>
    <p:extLst>
      <p:ext uri="{BB962C8B-B14F-4D97-AF65-F5344CB8AC3E}">
        <p14:creationId xmlns:p14="http://schemas.microsoft.com/office/powerpoint/2010/main" val="26903609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4" name="Google Shape;104;p16">
            <a:extLst xmlns:a="http://schemas.openxmlformats.org/drawingml/2006/main">
              <a:ext uri="{FF2B5EF4-FFF2-40B4-BE49-F238E27FC236}">
                <a16:creationId xmlns:a16="http://schemas.microsoft.com/office/drawing/2014/main" id="{80C93DE0-27BA-40BE-927B-221977977B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7650" y="617250"/>
            <a:ext cx="7688700" cy="5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 fontScale="9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ct val="33333"/>
              <a:buFont typeface="Arial"/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Méthode et constats clés</a:t>
            </a:r>
            <a:endParaRPr sz="3300">
              <a:latin typeface="Montserrat"/>
              <a:ea typeface="Montserrat"/>
              <a:cs typeface="Montserrat"/>
            </a:endParaRPr>
          </a:p>
        </p:txBody>
      </p:sp>
      <p:sp>
        <p:nvSpPr>
          <p:cNvPr id="105" name="Google Shape;105;p16">
            <a:extLst xmlns:a="http://schemas.openxmlformats.org/drawingml/2006/main">
              <a:ext uri="{FF2B5EF4-FFF2-40B4-BE49-F238E27FC236}">
                <a16:creationId xmlns:a16="http://schemas.microsoft.com/office/drawing/2014/main" id="{5796651C-831C-4322-A0D3-2CA798FA688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9450" y="1437850"/>
            <a:ext cx="7688700" cy="2902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i="1">
              <a:latin typeface="Montserrat"/>
              <a:ea typeface="Montserrat"/>
              <a:cs typeface="Montserrat"/>
            </a:endParaRPr>
          </a:p>
        </p:txBody>
      </p:sp>
      <p:sp>
        <p:nvSpPr>
          <p:cNvPr id="106" name="TextBox 105">
            <a:extLst xmlns:a="http://schemas.openxmlformats.org/drawingml/2006/main">
              <a:ext uri="{FF2B5EF4-FFF2-40B4-BE49-F238E27FC236}">
                <a16:creationId xmlns:a16="http://schemas.microsoft.com/office/drawing/2014/main" id="{1F5DB10B-171A-41B2-B01C-75FA2D39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17320"/>
            <a:ext cx="7589520" cy="2433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26 196 enregistrements · 2 types de biens · Paris 2017–2021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En 2021 : 8 829 €/m² dans le 19e contre 13 795 €/m² dans le 6e.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Prix moyen des locaux : +14,5 % par rapport aux appartements.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Corrélations : prix/date r = 0,267; prix/surface r = 0,103 (faible).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16 lignes identiques conservées faute d’identifiant de transaction.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Moyennes descriptives : les écarts liés aux biens et à la localisation ne sont pas neutralisés.</a:t>
            </a:r>
          </a:p>
        </p:txBody>
      </p:sp>
    </p:spTree>
    <p:extLst>
      <p:ext uri="{BB962C8B-B14F-4D97-AF65-F5344CB8AC3E}">
        <p14:creationId xmlns:p14="http://schemas.microsoft.com/office/powerpoint/2010/main" val="102007360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0" name="Google Shape;110;p17">
            <a:extLst xmlns:a="http://schemas.openxmlformats.org/drawingml/2006/main">
              <a:ext uri="{FF2B5EF4-FFF2-40B4-BE49-F238E27FC236}">
                <a16:creationId xmlns:a16="http://schemas.microsoft.com/office/drawing/2014/main" id="{07162ED0-96A4-4CF0-881C-F7252DB4B3A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1000" y="640650"/>
            <a:ext cx="7688700" cy="5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 fontScale="9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Valorisation estimée du portefeuille · 31/12/2022</a:t>
            </a:r>
            <a:endParaRPr sz="3300">
              <a:latin typeface="Montserrat"/>
              <a:ea typeface="Montserrat"/>
              <a:cs typeface="Montserrat"/>
            </a:endParaRPr>
          </a:p>
        </p:txBody>
      </p:sp>
      <p:sp>
        <p:nvSpPr>
          <p:cNvPr id="111" name="Google Shape;111;p17">
            <a:extLst xmlns:a="http://schemas.openxmlformats.org/drawingml/2006/main">
              <a:ext uri="{FF2B5EF4-FFF2-40B4-BE49-F238E27FC236}">
                <a16:creationId xmlns:a16="http://schemas.microsoft.com/office/drawing/2014/main" id="{BE09A48E-2925-4AE5-BC67-987BA49D75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9450" y="1437850"/>
            <a:ext cx="7688700" cy="2902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i="1">
              <a:latin typeface="Montserrat"/>
              <a:ea typeface="Montserrat"/>
              <a:cs typeface="Montserrat"/>
            </a:endParaRPr>
          </a:p>
        </p:txBody>
      </p:sp>
      <p:sp>
        <p:nvSpPr>
          <p:cNvPr id="112" name="TextBox 111">
            <a:extLst xmlns:a="http://schemas.openxmlformats.org/drawingml/2006/main">
              <a:ext uri="{FF2B5EF4-FFF2-40B4-BE49-F238E27FC236}">
                <a16:creationId xmlns:a16="http://schemas.microsoft.com/office/drawing/2014/main" id="{B1CC024A-0CE6-4A78-BD42-FA86CF20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353312"/>
            <a:ext cx="7589520" cy="2433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Valeur totale estimée au 31/12/2022 : 180 358 088 €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Appartements : 154 biens · 74 566 947 €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Locaux et assimilés : 121 biens · 105 791 141 €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Test 2021 : erreur absolue relative moyenne 7,87 %; biais moyen +7,86 % (surestimation; MAE : 40 009 €).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Limites : projection après 2021; état, étage, DPE et détails des locaux absents.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La ventilation reflète le type de bien, faute d’information sur les branches.</a:t>
            </a:r>
          </a:p>
        </p:txBody>
      </p:sp>
    </p:spTree>
    <p:extLst>
      <p:ext uri="{BB962C8B-B14F-4D97-AF65-F5344CB8AC3E}">
        <p14:creationId xmlns:p14="http://schemas.microsoft.com/office/powerpoint/2010/main" val="200290655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6" name="Google Shape;116;p18">
            <a:extLst xmlns:a="http://schemas.openxmlformats.org/drawingml/2006/main">
              <a:ext uri="{FF2B5EF4-FFF2-40B4-BE49-F238E27FC236}">
                <a16:creationId xmlns:a16="http://schemas.microsoft.com/office/drawing/2014/main" id="{48161589-ABAB-40C2-A5ED-0278A1DF8B7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9450" y="1322450"/>
            <a:ext cx="7688400" cy="151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Les Plus Beaux Logis de Paris</a:t>
            </a:r>
            <a:endParaRPr/>
          </a:p>
          <a:p xmlns:a="http://schemas.openxmlformats.org/drawingml/2006/main">
            <a:pPr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Classement automatique · K-means</a:t>
            </a:r>
          </a:p>
        </p:txBody>
      </p:sp>
    </p:spTree>
    <p:extLst>
      <p:ext uri="{BB962C8B-B14F-4D97-AF65-F5344CB8AC3E}">
        <p14:creationId xmlns:p14="http://schemas.microsoft.com/office/powerpoint/2010/main" val="108828546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19">
            <a:extLst xmlns:a="http://schemas.openxmlformats.org/drawingml/2006/main">
              <a:ext uri="{FF2B5EF4-FFF2-40B4-BE49-F238E27FC236}">
                <a16:creationId xmlns:a16="http://schemas.microsoft.com/office/drawing/2014/main" id="{4D8B10AA-CFAF-4B9A-B258-B89CB73EF4D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623400" y="2612200"/>
            <a:ext cx="8520600" cy="144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 fontScale="100000" lnSpcReduction="20000"/>
          </a:bodyPr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ct val="50000"/>
              <a:buFont typeface="Arial"/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Trier les opportunités par nature de bien</a:t>
            </a:r>
            <a:endParaRPr sz="2200" i="1">
              <a:solidFill>
                <a:schemeClr val="dk1"/>
              </a:solidFill>
              <a:latin typeface="Montserrat"/>
              <a:ea typeface="Montserrat"/>
              <a:cs typeface="Montserrat"/>
            </a:endParaRPr>
          </a:p>
          <a:p xmlns:a="http://schemas.openxmlformats.org/drawingml/2006/main">
            <a:pPr marL="0" lvl="0" indent="0" algn="l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ct val="50000"/>
              <a:buFont typeface="Arial"/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33044"/>
                </a:solidFill>
                <a:latin typeface="Aptos"/>
                <a:ea typeface="Aptos"/>
                <a:cs typeface="Aptos"/>
              </a:rPr>
              <a:t>Échantillon transmis : 40 biens · résultats à confirmer</a:t>
            </a:r>
          </a:p>
        </p:txBody>
      </p:sp>
      <p:pic>
        <p:nvPicPr>
          <p:cNvPr id="122" name="Google Shape;122;p19">
            <a:extLst xmlns:a="http://schemas.openxmlformats.org/drawingml/2006/main">
              <a:ext uri="{FF2B5EF4-FFF2-40B4-BE49-F238E27FC236}">
                <a16:creationId xmlns:a16="http://schemas.microsoft.com/office/drawing/2014/main" id="{961E18E0-8D5A-4A8B-9984-A6E4AD26BFF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2303f65f814343">
            <a:alphaModFix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400" y="89925"/>
            <a:ext cx="3669750" cy="16454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98264092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7" name="Google Shape;127;p20">
            <a:extLst xmlns:a="http://schemas.openxmlformats.org/drawingml/2006/main">
              <a:ext uri="{FF2B5EF4-FFF2-40B4-BE49-F238E27FC236}">
                <a16:creationId xmlns:a16="http://schemas.microsoft.com/office/drawing/2014/main" id="{53D2B78C-DDF0-4B29-BF96-8843CA8B54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7650" y="617250"/>
            <a:ext cx="7688700" cy="5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 fontScale="9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ct val="33333"/>
              <a:buFont typeface="Arial"/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Méthode de clustering et test</a:t>
            </a:r>
            <a:endParaRPr sz="3300">
              <a:latin typeface="Montserrat"/>
              <a:ea typeface="Montserrat"/>
              <a:cs typeface="Montserrat"/>
            </a:endParaRPr>
          </a:p>
        </p:txBody>
      </p:sp>
      <p:sp>
        <p:nvSpPr>
          <p:cNvPr id="128" name="Google Shape;128;p20">
            <a:extLst xmlns:a="http://schemas.openxmlformats.org/drawingml/2006/main">
              <a:ext uri="{FF2B5EF4-FFF2-40B4-BE49-F238E27FC236}">
                <a16:creationId xmlns:a16="http://schemas.microsoft.com/office/drawing/2014/main" id="{AF118B95-B2AA-475B-8C8E-EFF4A9C587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9450" y="1437850"/>
            <a:ext cx="7688700" cy="2902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i="1">
              <a:latin typeface="Montserrat"/>
              <a:ea typeface="Montserrat"/>
              <a:cs typeface="Montserrat"/>
            </a:endParaRPr>
          </a:p>
        </p:txBody>
      </p:sp>
      <p:sp>
        <p:nvSpPr>
          <p:cNvPr id="129" name="TextBox 128">
            <a:extLst xmlns:a="http://schemas.openxmlformats.org/drawingml/2006/main">
              <a:ext uri="{FF2B5EF4-FFF2-40B4-BE49-F238E27FC236}">
                <a16:creationId xmlns:a16="http://schemas.microsoft.com/office/drawing/2014/main" id="{2405525F-071C-4CE0-8CD4-7D6D8CD8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417320"/>
            <a:ext cx="7589520" cy="26771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K-means est ajusté sur le seul prix au m² des ventes 2017–2020.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Le type n’entre pas dans l’ajustement; les types connus servent ensuite à nommer les groupes.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Centres des groupes : 9 583 et 12 426 €/m².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Silhouette : 0,693; elle mesure la séparation des prix, pas la qualité du classement.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Échantillon Louise : 40 biens du 19e, tous estimés appartements.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6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600">
                <a:solidFill>
                  <a:srgbClr val="233044"/>
                </a:solidFill>
                <a:latin typeface="Aptos"/>
                <a:ea typeface="Aptos"/>
                <a:cs typeface="Aptos"/>
              </a:rPr>
              <a:t>Étiquettes de référence manquantes : ce résultat reste à vérifier.</a:t>
            </a:r>
          </a:p>
        </p:txBody>
      </p:sp>
    </p:spTree>
    <p:extLst>
      <p:ext uri="{BB962C8B-B14F-4D97-AF65-F5344CB8AC3E}">
        <p14:creationId xmlns:p14="http://schemas.microsoft.com/office/powerpoint/2010/main" val="90933109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Google Shape;133;p21">
            <a:extLst xmlns:a="http://schemas.openxmlformats.org/drawingml/2006/main">
              <a:ext uri="{FF2B5EF4-FFF2-40B4-BE49-F238E27FC236}">
                <a16:creationId xmlns:a16="http://schemas.microsoft.com/office/drawing/2014/main" id="{A58A8968-E207-4225-9DEC-A3F81C42CA6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1000" y="640650"/>
            <a:ext cx="7688700" cy="5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 fontScale="90000"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Résultats 2021 : utile comme indicateur, insuffisant pour décider seul</a:t>
            </a:r>
            <a:endParaRPr sz="3300">
              <a:latin typeface="Montserrat"/>
              <a:ea typeface="Montserrat"/>
              <a:cs typeface="Montserrat"/>
            </a:endParaRPr>
          </a:p>
        </p:txBody>
      </p:sp>
      <p:sp>
        <p:nvSpPr>
          <p:cNvPr id="134" name="Google Shape;134;p21">
            <a:extLst xmlns:a="http://schemas.openxmlformats.org/drawingml/2006/main">
              <a:ext uri="{FF2B5EF4-FFF2-40B4-BE49-F238E27FC236}">
                <a16:creationId xmlns:a16="http://schemas.microsoft.com/office/drawing/2014/main" id="{D3B2D815-652F-4D23-B8DD-D16BA7A97C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9450" y="1437850"/>
            <a:ext cx="7688700" cy="2902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i="1">
              <a:latin typeface="Montserrat"/>
              <a:ea typeface="Montserrat"/>
              <a:cs typeface="Montserrat"/>
            </a:endParaRPr>
          </a:p>
        </p:txBody>
      </p:sp>
      <p:pic>
        <p:nvPicPr>
          <p:cNvPr id="135" name="Picture 134">
            <a:extLst xmlns:a="http://schemas.openxmlformats.org/drawingml/2006/main">
              <a:ext uri="{FF2B5EF4-FFF2-40B4-BE49-F238E27FC236}">
                <a16:creationId xmlns:a16="http://schemas.microsoft.com/office/drawing/2014/main" id="{36AD419A-4AC7-4828-8BDA-BCC0F059F9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592d2b0de4f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4360" y="1417320"/>
            <a:ext cx="4114800" cy="3218066"/>
          </a:xfrm>
          <a:prstGeom xmlns:a="http://schemas.openxmlformats.org/drawingml/2006/main" prst="rect">
            <a:avLst/>
          </a:prstGeom>
        </p:spPr>
      </p:pic>
      <p:sp>
        <p:nvSpPr>
          <p:cNvPr id="136" name="TextBox 135">
            <a:extLst xmlns:a="http://schemas.openxmlformats.org/drawingml/2006/main">
              <a:ext uri="{FF2B5EF4-FFF2-40B4-BE49-F238E27FC236}">
                <a16:creationId xmlns:a16="http://schemas.microsoft.com/office/drawing/2014/main" id="{067018CF-67E0-4CD0-BBBE-2BF49467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417320"/>
            <a:ext cx="3886200" cy="3215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t>Précision « local » : 23,3 % (911 fausses alertes).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33044"/>
                </a:solidFill>
                <a:latin typeface="Aptos"/>
                <a:ea typeface="Aptos"/>
                <a:cs typeface="Aptos"/>
              </a:rPr>
              <a:t>Rappel des locaux : 73,6 % · exactitude : 80,1 %.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33044"/>
                </a:solidFill>
                <a:latin typeface="Aptos"/>
                <a:ea typeface="Aptos"/>
                <a:cs typeface="Aptos"/>
              </a:rPr>
              <a:t>La référence naïve atteint 92,6 % en classant tout appartement.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800">
                <a:solidFill>
                  <a:srgbClr val="233044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233044"/>
                </a:solidFill>
                <a:latin typeface="Aptos"/>
                <a:ea typeface="Aptos"/>
                <a:cs typeface="Aptos"/>
              </a:rPr>
              <a:t>Aucun achat automatisé : pré-tri avec contrôle humain; les 40 biens restent à confirmer avec les étiquettes de Louise.</a:t>
            </a:r>
          </a:p>
        </p:txBody>
      </p:sp>
    </p:spTree>
    <p:extLst>
      <p:ext uri="{BB962C8B-B14F-4D97-AF65-F5344CB8AC3E}">
        <p14:creationId xmlns:p14="http://schemas.microsoft.com/office/powerpoint/2010/main" val="1642904281"/>
      </p:ext>
    </p:extLst>
  </p:cSld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reamlin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2026-10-19T11:16:40.5530000Z</dcterms:created>
  <dcterms:modified xsi:type="dcterms:W3CDTF">2026-10-19T11:16:40.5530000Z</dcterms:modified>
</coreProperties>
</file>